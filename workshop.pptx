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6122BB-A3D4-4C36-974A-8EDB051E4EA2}" v="2" dt="2026-08-07T05:31:18.6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66" y="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田　圭樹" userId="0af60646-6f4a-4a9f-bc8e-172620bc4ba6" providerId="ADAL" clId="{D4FF9258-13A9-48AB-B97D-F4DD27D2C023}"/>
    <pc:docChg chg="modSld">
      <pc:chgData name="福田　圭樹" userId="0af60646-6f4a-4a9f-bc8e-172620bc4ba6" providerId="ADAL" clId="{D4FF9258-13A9-48AB-B97D-F4DD27D2C023}" dt="2026-08-07T05:31:18.625" v="1"/>
      <pc:docMkLst>
        <pc:docMk/>
      </pc:docMkLst>
      <pc:sldChg chg="modSp">
        <pc:chgData name="福田　圭樹" userId="0af60646-6f4a-4a9f-bc8e-172620bc4ba6" providerId="ADAL" clId="{D4FF9258-13A9-48AB-B97D-F4DD27D2C023}" dt="2026-08-07T05:31:18.625" v="1"/>
        <pc:sldMkLst>
          <pc:docMk/>
          <pc:sldMk cId="0" sldId="265"/>
        </pc:sldMkLst>
        <pc:spChg chg="mod">
          <ac:chgData name="福田　圭樹" userId="0af60646-6f4a-4a9f-bc8e-172620bc4ba6" providerId="ADAL" clId="{D4FF9258-13A9-48AB-B97D-F4DD27D2C023}" dt="2026-08-07T05:31:18.625" v="1"/>
          <ac:spMkLst>
            <pc:docMk/>
            <pc:sldMk cId="0" sldId="265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C7ACB-0CFD-4697-A694-C50532E3AB62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48369-C927-4439-8D3A-8F30E9DF3E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4872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8369-C927-4439-8D3A-8F30E9DF3E1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2140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0566" y="2443381"/>
            <a:ext cx="11151393" cy="7950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ja-JP" altLang="en-US" sz="4800" b="1" i="0" u="none" dirty="0">
                <a:solidFill>
                  <a:schemeClr val="bg1"/>
                </a:solidFill>
                <a:latin typeface="Meiryo"/>
                <a:ea typeface="Meiryo"/>
              </a:rPr>
              <a:t>大学の空き教室「検索・予約」アプリ</a:t>
            </a:r>
            <a:endParaRPr lang="en-US" sz="4800" b="1" i="0" u="none" dirty="0">
              <a:solidFill>
                <a:schemeClr val="bg1"/>
              </a:solidFill>
              <a:latin typeface="Meiryo"/>
              <a:ea typeface="Meiry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94594"/>
            <a:ext cx="3429000" cy="37451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994594"/>
            <a:ext cx="3429000" cy="37451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994594"/>
            <a:ext cx="3429000" cy="37451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45907" y="3242369"/>
            <a:ext cx="1480185" cy="294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ja-JP" altLang="en-US" sz="1800" b="1" i="0" u="none">
                <a:solidFill>
                  <a:srgbClr val="043927"/>
                </a:solidFill>
                <a:latin typeface="Meiryo"/>
                <a:ea typeface="Meiryo"/>
              </a:rPr>
              <a:t>学生の現状</a:t>
            </a:r>
            <a:endParaRPr lang="en-US" sz="1800" b="1" i="0" u="none">
              <a:solidFill>
                <a:srgbClr val="043927"/>
              </a:solidFill>
              <a:latin typeface="Meiryo"/>
              <a:ea typeface="Meiry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6775" y="3682305"/>
            <a:ext cx="2838450" cy="1211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err="1">
                <a:latin typeface="Meiryo"/>
                <a:ea typeface="Meiryo"/>
              </a:rPr>
              <a:t>図書館や食堂以外にも、勉強や食事ができ</a:t>
            </a:r>
            <a:r>
              <a:rPr sz="1500" b="0" i="0" u="none">
                <a:latin typeface="Meiryo"/>
                <a:ea typeface="Meiryo"/>
              </a:rPr>
              <a:t>、</a:t>
            </a:r>
            <a:r>
              <a:rPr lang="ja-JP" altLang="en-US" sz="1500" b="0" i="0" u="none" err="1">
                <a:latin typeface="Meiryo"/>
                <a:ea typeface="Meiryo"/>
              </a:rPr>
              <a:t>さらに学内イベントを自由に行える身近なスペースが欲しいという切実な要望</a:t>
            </a:r>
            <a:r>
              <a:rPr sz="1500" b="0" i="0" u="none">
                <a:latin typeface="Meiryo"/>
                <a:ea typeface="Meiryo"/>
              </a:rPr>
              <a:t>。</a:t>
            </a:r>
            <a:endParaRPr lang="en-US" sz="1500" b="0" i="0" u="none">
              <a:latin typeface="Meiryo"/>
              <a:ea typeface="Meiry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55907" y="3242369"/>
            <a:ext cx="1480185" cy="294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ja-JP" altLang="en-US" sz="1800" b="1" i="0" u="none">
                <a:solidFill>
                  <a:srgbClr val="043927"/>
                </a:solidFill>
                <a:latin typeface="Meiryo"/>
                <a:ea typeface="Meiryo"/>
              </a:rPr>
              <a:t>大学の現状</a:t>
            </a:r>
            <a:endParaRPr lang="en-US" sz="1800" b="1" i="0" u="none">
              <a:solidFill>
                <a:srgbClr val="043927"/>
              </a:solidFill>
              <a:latin typeface="Meiryo"/>
              <a:ea typeface="Meiry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6775" y="3682305"/>
            <a:ext cx="2838450" cy="1519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err="1">
                <a:latin typeface="Meiryo"/>
                <a:ea typeface="Meiryo"/>
              </a:rPr>
              <a:t>十分に使われていない「空き教室」を多数抱えており、これらを学習や交流に活用し</a:t>
            </a:r>
            <a:r>
              <a:rPr sz="1500" b="0" i="0" u="none">
                <a:latin typeface="Meiryo"/>
                <a:ea typeface="Meiryo"/>
              </a:rPr>
              <a:t>、</a:t>
            </a:r>
            <a:r>
              <a:rPr lang="ja-JP" altLang="en-US" sz="1500" b="0" i="0" u="none">
                <a:latin typeface="Meiryo"/>
                <a:ea typeface="Meiryo"/>
              </a:rPr>
              <a:t>キャンパス全体を活性化したいという狙い</a:t>
            </a:r>
            <a:r>
              <a:rPr sz="1500" b="0" i="0" u="none">
                <a:latin typeface="Meiryo"/>
                <a:ea typeface="Meiryo"/>
              </a:rPr>
              <a:t>。</a:t>
            </a:r>
            <a:endParaRPr lang="en-US" sz="1500" b="0" i="0" u="none">
              <a:latin typeface="Meiryo"/>
              <a:ea typeface="Meiry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65907" y="3242369"/>
            <a:ext cx="1480185" cy="294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lang="ja-JP" altLang="en-US" sz="1800" b="1" i="0" u="none" err="1">
                <a:solidFill>
                  <a:srgbClr val="043927"/>
                </a:solidFill>
                <a:latin typeface="Meiryo"/>
                <a:ea typeface="Meiryo"/>
              </a:rPr>
              <a:t>地域の</a:t>
            </a:r>
            <a:r>
              <a:rPr lang="ja-JP" altLang="en-US" sz="1800" b="1" i="0" u="none">
                <a:solidFill>
                  <a:srgbClr val="043927"/>
                </a:solidFill>
                <a:latin typeface="Meiryo"/>
                <a:ea typeface="Meiryo"/>
              </a:rPr>
              <a:t>現状</a:t>
            </a:r>
            <a:endParaRPr lang="en-US" sz="1800" b="1" i="0" u="none">
              <a:solidFill>
                <a:srgbClr val="043927"/>
              </a:solidFill>
              <a:latin typeface="Meiryo"/>
              <a:ea typeface="Meiry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86775" y="3682305"/>
            <a:ext cx="2838450" cy="1211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err="1">
                <a:latin typeface="Meiryo"/>
                <a:ea typeface="Meiryo"/>
              </a:rPr>
              <a:t>大学周辺の地域住民や地元企業も、集会やイベント、地域活動のために「安全で使いやすいスペース</a:t>
            </a:r>
            <a:r>
              <a:rPr sz="1500" b="0" i="0" u="none">
                <a:latin typeface="Meiryo"/>
                <a:ea typeface="Meiryo"/>
              </a:rPr>
              <a:t>」</a:t>
            </a:r>
            <a:r>
              <a:rPr lang="ja-JP" altLang="en-US" sz="1500" b="0" i="0" u="none">
                <a:latin typeface="Meiryo"/>
                <a:ea typeface="Meiryo"/>
              </a:rPr>
              <a:t>を求めている</a:t>
            </a:r>
            <a:r>
              <a:rPr sz="1500" b="0" i="0" u="none">
                <a:latin typeface="Meiryo"/>
                <a:ea typeface="Meiryo"/>
              </a:rPr>
              <a:t>。</a:t>
            </a:r>
            <a:endParaRPr lang="en-US" sz="1500" b="0" i="0" u="none">
              <a:latin typeface="Meiryo"/>
              <a:ea typeface="Meiryo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8533" y="2432744"/>
            <a:ext cx="414932" cy="533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8533" y="2432744"/>
            <a:ext cx="414932" cy="533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8533" y="2432744"/>
            <a:ext cx="414932" cy="533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altLang="ja-JP" sz="3000" b="1" i="0" u="none" dirty="0">
                <a:solidFill>
                  <a:schemeClr val="bg1"/>
                </a:solidFill>
                <a:latin typeface="Meiryo"/>
                <a:ea typeface="Meiryo"/>
              </a:rPr>
              <a:t>1. </a:t>
            </a:r>
            <a:r>
              <a:rPr lang="ja-JP" altLang="en-US" sz="3000" b="1" i="0" u="none" dirty="0">
                <a:solidFill>
                  <a:schemeClr val="bg1"/>
                </a:solidFill>
                <a:latin typeface="Meiryo"/>
                <a:ea typeface="Meiryo"/>
              </a:rPr>
              <a:t>背景・分析：</a:t>
            </a:r>
            <a:r>
              <a:rPr lang="en-US" altLang="ja-JP" sz="3000" b="1" i="0" u="none" dirty="0">
                <a:solidFill>
                  <a:schemeClr val="bg1"/>
                </a:solidFill>
                <a:latin typeface="Meiryo"/>
                <a:ea typeface="Meiryo"/>
              </a:rPr>
              <a:t>3</a:t>
            </a:r>
            <a:r>
              <a:rPr lang="ja-JP" altLang="en-US" sz="3000" b="1" i="0" u="none" dirty="0">
                <a:solidFill>
                  <a:schemeClr val="bg1"/>
                </a:solidFill>
                <a:latin typeface="Meiryo"/>
                <a:ea typeface="Meiryo"/>
              </a:rPr>
              <a:t>つの「現状」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724025"/>
            <a:ext cx="5286375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724025"/>
            <a:ext cx="5286375" cy="428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4215" y="1634579"/>
            <a:ext cx="5550693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ja-JP">
                <a:solidFill>
                  <a:schemeClr val="bg1"/>
                </a:solidFill>
                <a:latin typeface="Meiryo"/>
                <a:ea typeface="Meiryo"/>
              </a:rPr>
              <a:t>学生視点の課題</a:t>
            </a:r>
            <a:endParaRPr lang="en-US">
              <a:solidFill>
                <a:schemeClr val="bg1"/>
              </a:solidFill>
              <a:latin typeface="Meiryo"/>
              <a:ea typeface="Meiryo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4215" y="2878484"/>
            <a:ext cx="5550693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ja-JP" altLang="en-US" sz="1650" b="1" i="0" u="none" err="1">
                <a:solidFill>
                  <a:schemeClr val="bg1"/>
                </a:solidFill>
                <a:latin typeface="Meiryo"/>
                <a:ea typeface="Meiryo"/>
              </a:rPr>
              <a:t>大学・地域視点の課題</a:t>
            </a:r>
            <a:endParaRPr lang="en-US" sz="1650" b="1" i="0" u="none">
              <a:solidFill>
                <a:schemeClr val="bg1"/>
              </a:solidFill>
              <a:latin typeface="Meiryo"/>
              <a:ea typeface="Meiry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3246090"/>
            <a:ext cx="5367482" cy="596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ja-JP" altLang="en-US" sz="1500" b="0" i="0" u="none">
                <a:solidFill>
                  <a:schemeClr val="bg1"/>
                </a:solidFill>
                <a:latin typeface="Meiryo"/>
                <a:ea typeface="Meiryo"/>
              </a:rPr>
              <a:t>空き教室があっても貸し出す運用ルールが未整備。外部利用者の身元確認や、事務本部での手動手続きのハードルが高い</a:t>
            </a:r>
            <a:r>
              <a:rPr lang="ja-JP" altLang="en-US" sz="1500">
                <a:solidFill>
                  <a:schemeClr val="bg1"/>
                </a:solidFill>
                <a:latin typeface="Meiryo"/>
                <a:ea typeface="Meiryo"/>
              </a:rPr>
              <a:t>。</a:t>
            </a:r>
            <a:endParaRPr lang="ja-JP" altLang="en-US" sz="1500" b="0" i="0" u="none">
              <a:solidFill>
                <a:schemeClr val="bg1"/>
              </a:solidFill>
              <a:latin typeface="Meiryo"/>
              <a:ea typeface="Meiry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4215" y="4636825"/>
            <a:ext cx="5550693" cy="251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 err="1">
                <a:solidFill>
                  <a:schemeClr val="bg1"/>
                </a:solidFill>
                <a:latin typeface="Montserrat"/>
              </a:rPr>
              <a:t>分析の結論</a:t>
            </a:r>
            <a:endParaRPr lang="en-US" sz="1650" b="1" i="0" u="none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7700" y="4468011"/>
            <a:ext cx="52863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464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 u="none">
                <a:solidFill>
                  <a:schemeClr val="bg1"/>
                </a:solidFill>
                <a:latin typeface="Montserrat"/>
              </a:rPr>
              <a:t>2. </a:t>
            </a:r>
            <a:r>
              <a:rPr sz="3000" b="1" i="0" u="none" err="1">
                <a:solidFill>
                  <a:schemeClr val="bg1"/>
                </a:solidFill>
                <a:latin typeface="Montserrat"/>
              </a:rPr>
              <a:t>課題：分断を生むボトルネック</a:t>
            </a:r>
            <a:endParaRPr lang="en-US" sz="3000" b="1" i="0" u="none" err="1">
              <a:solidFill>
                <a:schemeClr val="bg1"/>
              </a:solidFill>
              <a:latin typeface="Montserrat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34579"/>
            <a:ext cx="133498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1983134"/>
            <a:ext cx="5286375" cy="596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ja-JP" altLang="en-US" sz="1500" b="0" i="0" u="none" err="1">
                <a:solidFill>
                  <a:schemeClr val="bg1"/>
                </a:solidFill>
                <a:latin typeface="Meiryo"/>
                <a:ea typeface="Meiryo"/>
              </a:rPr>
              <a:t>空き教室を見つけても</a:t>
            </a:r>
            <a:r>
              <a:rPr lang="ja-JP" altLang="en-US" sz="1500" b="0" i="0" u="none">
                <a:solidFill>
                  <a:schemeClr val="bg1"/>
                </a:solidFill>
                <a:latin typeface="Meiryo"/>
                <a:ea typeface="Meiryo"/>
              </a:rPr>
              <a:t>、「</a:t>
            </a:r>
            <a:r>
              <a:rPr lang="ja-JP" altLang="en-US" sz="1500" b="0" i="0" u="none" err="1">
                <a:solidFill>
                  <a:schemeClr val="bg1"/>
                </a:solidFill>
                <a:latin typeface="Meiryo"/>
                <a:ea typeface="Meiryo"/>
              </a:rPr>
              <a:t>今、勝手に使っていいのか</a:t>
            </a:r>
            <a:r>
              <a:rPr lang="ja-JP" altLang="en-US" sz="1500" b="0" i="0" u="none">
                <a:solidFill>
                  <a:schemeClr val="bg1"/>
                </a:solidFill>
                <a:latin typeface="Meiryo"/>
                <a:ea typeface="Meiryo"/>
              </a:rPr>
              <a:t>？」</a:t>
            </a:r>
            <a:r>
              <a:rPr lang="ja-JP" altLang="en-US" sz="1500" b="0" i="0" u="none" err="1">
                <a:solidFill>
                  <a:schemeClr val="bg1"/>
                </a:solidFill>
                <a:latin typeface="Meiryo"/>
                <a:ea typeface="Meiryo"/>
              </a:rPr>
              <a:t>が分からず、結果的に使用できずに諦めてしまう</a:t>
            </a:r>
            <a:r>
              <a:rPr lang="ja-JP" altLang="en-US" sz="1500" b="0" i="0" u="none">
                <a:solidFill>
                  <a:schemeClr val="bg1"/>
                </a:solidFill>
                <a:latin typeface="Meiryo"/>
                <a:ea typeface="Meiryo"/>
              </a:rPr>
              <a:t>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97534"/>
            <a:ext cx="133498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40" y="4677752"/>
            <a:ext cx="133498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013870"/>
            <a:ext cx="5367482" cy="5963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chemeClr val="bg1"/>
                </a:solidFill>
                <a:latin typeface="Meiryo"/>
                <a:ea typeface="Meiryo"/>
              </a:rPr>
              <a:t>「</a:t>
            </a:r>
            <a:r>
              <a:rPr sz="1500" b="0" i="0" u="none" err="1">
                <a:solidFill>
                  <a:schemeClr val="bg1"/>
                </a:solidFill>
                <a:latin typeface="Meiryo"/>
                <a:ea typeface="Meiryo"/>
              </a:rPr>
              <a:t>使いたい人」と「持て余している人」が存在するのに</a:t>
            </a:r>
            <a:r>
              <a:rPr sz="1500" b="0" i="0" u="none">
                <a:solidFill>
                  <a:schemeClr val="bg1"/>
                </a:solidFill>
                <a:latin typeface="Meiryo"/>
                <a:ea typeface="Meiryo"/>
              </a:rPr>
              <a:t>、</a:t>
            </a:r>
            <a:r>
              <a:rPr lang="ja-JP" altLang="en-US" sz="1500" b="0" i="0" u="none">
                <a:solidFill>
                  <a:schemeClr val="bg1"/>
                </a:solidFill>
                <a:latin typeface="Meiryo"/>
                <a:ea typeface="Meiryo"/>
              </a:rPr>
              <a:t>両者を繋ぐ情報と仕組みが完全に分断されているのが現状</a:t>
            </a:r>
            <a:r>
              <a:rPr sz="1500" b="0" i="0" u="none">
                <a:solidFill>
                  <a:schemeClr val="bg1"/>
                </a:solidFill>
                <a:latin typeface="Meiryo"/>
                <a:ea typeface="Meiryo"/>
              </a:rPr>
              <a:t>。</a:t>
            </a:r>
            <a:endParaRPr lang="en-US" sz="1500" b="0" i="0" u="none">
              <a:solidFill>
                <a:schemeClr val="bg1"/>
              </a:solidFill>
              <a:latin typeface="Meiryo"/>
              <a:ea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62025" y="2541240"/>
            <a:ext cx="4780597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3C383"/>
                </a:solidFill>
                <a:latin typeface="Montserrat"/>
              </a:rPr>
              <a:t>直感的な利用体験</a:t>
            </a:r>
          </a:p>
        </p:txBody>
      </p:sp>
      <p:sp>
        <p:nvSpPr>
          <p:cNvPr id="6" name="Rectangle 5"/>
          <p:cNvSpPr/>
          <p:nvPr/>
        </p:nvSpPr>
        <p:spPr>
          <a:xfrm>
            <a:off x="962025" y="3030735"/>
            <a:ext cx="4552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7025" y="2388840"/>
            <a:ext cx="4780597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3C383"/>
                </a:solidFill>
                <a:latin typeface="Montserrat"/>
              </a:rPr>
              <a:t>システムとしての価値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7025" y="2878335"/>
            <a:ext cx="45529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47775" y="3287910"/>
            <a:ext cx="4267200" cy="585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ja-JP" altLang="en-US" sz="1500" b="1" i="0" u="none" dirty="0">
                <a:solidFill>
                  <a:schemeClr val="bg1"/>
                </a:solidFill>
                <a:latin typeface="Noto Sans JP"/>
              </a:rPr>
              <a:t>シンプル</a:t>
            </a:r>
            <a:r>
              <a:rPr lang="en-US" altLang="ja-JP" sz="1500" b="1" i="0" u="none" dirty="0">
                <a:solidFill>
                  <a:schemeClr val="bg1"/>
                </a:solidFill>
                <a:latin typeface="Noto Sans JP"/>
              </a:rPr>
              <a:t>:</a:t>
            </a:r>
            <a:r>
              <a:rPr lang="ja-JP" altLang="en-US" sz="1500" b="0" i="0" u="none" dirty="0">
                <a:solidFill>
                  <a:schemeClr val="bg1"/>
                </a:solidFill>
                <a:latin typeface="Noto Sans JP"/>
              </a:rPr>
              <a:t> 空室状況、プロジェクター等の設備、利用条件を</a:t>
            </a:r>
            <a:r>
              <a:rPr lang="en-US" altLang="ja-JP" sz="1500" b="0" i="0" u="none" dirty="0">
                <a:solidFill>
                  <a:schemeClr val="bg1"/>
                </a:solidFill>
                <a:latin typeface="Noto Sans JP"/>
              </a:rPr>
              <a:t>1</a:t>
            </a:r>
            <a:r>
              <a:rPr lang="ja-JP" altLang="en-US" sz="1500" b="0" i="0" u="none" dirty="0">
                <a:solidFill>
                  <a:schemeClr val="bg1"/>
                </a:solidFill>
                <a:latin typeface="Noto Sans JP"/>
              </a:rPr>
              <a:t>つの画面で直感的に確認できる。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775" y="4088010"/>
            <a:ext cx="4267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err="1">
                <a:solidFill>
                  <a:schemeClr val="bg1"/>
                </a:solidFill>
                <a:latin typeface="Noto Sans JP"/>
              </a:rPr>
              <a:t>スピーディ</a:t>
            </a:r>
            <a:r>
              <a:rPr sz="1500" b="1" i="0" u="none">
                <a:solidFill>
                  <a:schemeClr val="bg1"/>
                </a:solidFill>
                <a:latin typeface="Noto Sans JP"/>
              </a:rPr>
              <a:t>ー:</a:t>
            </a:r>
            <a:r>
              <a:rPr sz="1500" b="0" i="0" u="none">
                <a:solidFill>
                  <a:schemeClr val="bg1"/>
                </a:solidFill>
                <a:latin typeface="Noto Sans JP"/>
              </a:rPr>
              <a:t> </a:t>
            </a:r>
            <a:r>
              <a:rPr sz="1500" b="0" i="0" u="none" err="1">
                <a:solidFill>
                  <a:schemeClr val="bg1"/>
                </a:solidFill>
                <a:latin typeface="Noto Sans JP"/>
              </a:rPr>
              <a:t>目的に合った教室の検索から予約までを短時間で完了。外部ゲストも大学へ電話確認をせず申請まで行えます</a:t>
            </a:r>
            <a:r>
              <a:rPr sz="1500" b="0" i="0" u="none">
                <a:solidFill>
                  <a:schemeClr val="bg1"/>
                </a:solidFill>
                <a:latin typeface="Noto Sans JP"/>
              </a:rPr>
              <a:t>。</a:t>
            </a:r>
            <a:endParaRPr lang="en-US" sz="1500" b="0" i="0" u="none">
              <a:solidFill>
                <a:schemeClr val="bg1"/>
              </a:solidFill>
              <a:latin typeface="Noto Sans JP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62775" y="3135510"/>
            <a:ext cx="4267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ja-JP" altLang="en-US" sz="1500" b="1" i="0" u="none" err="1">
                <a:solidFill>
                  <a:schemeClr val="bg1"/>
                </a:solidFill>
                <a:latin typeface="Noto Sans JP"/>
              </a:rPr>
              <a:t>完結性</a:t>
            </a:r>
            <a:r>
              <a:rPr lang="en-US" altLang="ja-JP" sz="1500" b="1" i="0" u="none">
                <a:solidFill>
                  <a:schemeClr val="bg1"/>
                </a:solidFill>
                <a:latin typeface="Noto Sans JP"/>
              </a:rPr>
              <a:t>:</a:t>
            </a:r>
            <a:r>
              <a:rPr lang="ja-JP" altLang="en-US" sz="1500" b="0" i="0" u="none">
                <a:solidFill>
                  <a:schemeClr val="bg1"/>
                </a:solidFill>
                <a:latin typeface="Noto Sans JP"/>
              </a:rPr>
              <a:t> </a:t>
            </a:r>
            <a:r>
              <a:rPr lang="ja-JP" altLang="en-US" sz="1500" b="0" i="0" u="none" err="1">
                <a:solidFill>
                  <a:schemeClr val="bg1"/>
                </a:solidFill>
                <a:latin typeface="Noto Sans JP"/>
              </a:rPr>
              <a:t>検索、予約申請、ステータス通知、そして退室時のチェックアウトまで、すべての体験がアプリ内で完結します</a:t>
            </a:r>
            <a:r>
              <a:rPr lang="ja-JP" altLang="en-US" sz="1500" b="0" i="0" u="none">
                <a:solidFill>
                  <a:schemeClr val="bg1"/>
                </a:solidFill>
                <a:latin typeface="Noto Sans JP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2775" y="4240410"/>
            <a:ext cx="4267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ja-JP" altLang="en-US" sz="1500" b="1" i="0" u="none" err="1">
                <a:solidFill>
                  <a:schemeClr val="bg1"/>
                </a:solidFill>
                <a:latin typeface="Noto Sans JP"/>
              </a:rPr>
              <a:t>透明性</a:t>
            </a:r>
            <a:r>
              <a:rPr lang="en-US" altLang="ja-JP" sz="1500" b="1" i="0" u="none">
                <a:solidFill>
                  <a:schemeClr val="bg1"/>
                </a:solidFill>
                <a:latin typeface="Noto Sans JP"/>
              </a:rPr>
              <a:t>:</a:t>
            </a:r>
            <a:r>
              <a:rPr lang="ja-JP" altLang="en-US" sz="1500" b="0" i="0" u="none">
                <a:solidFill>
                  <a:schemeClr val="bg1"/>
                </a:solidFill>
                <a:latin typeface="Noto Sans JP"/>
              </a:rPr>
              <a:t> </a:t>
            </a:r>
            <a:r>
              <a:rPr lang="ja-JP" altLang="en-US" sz="1500" b="0" i="0" u="none" err="1">
                <a:solidFill>
                  <a:schemeClr val="bg1"/>
                </a:solidFill>
                <a:latin typeface="Noto Sans JP"/>
              </a:rPr>
              <a:t>大学側は教室の利用状況や頻度をダッシュボードで可視化でき、将来の施設運用や投資判断に直結させられます</a:t>
            </a:r>
            <a:r>
              <a:rPr lang="ja-JP" altLang="en-US" sz="1500" b="0" i="0" u="none">
                <a:solidFill>
                  <a:schemeClr val="bg1"/>
                </a:solidFill>
                <a:latin typeface="Noto Sans JP"/>
              </a:rPr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64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 u="none">
                <a:solidFill>
                  <a:schemeClr val="bg1"/>
                </a:solidFill>
                <a:latin typeface="Montserrat"/>
              </a:rPr>
              <a:t>3. </a:t>
            </a:r>
            <a:r>
              <a:rPr sz="3000" b="1" i="0" u="none" err="1">
                <a:solidFill>
                  <a:schemeClr val="bg1"/>
                </a:solidFill>
                <a:latin typeface="Montserrat"/>
              </a:rPr>
              <a:t>解決策：空き教室「検索・予約」アプリ</a:t>
            </a:r>
            <a:endParaRPr lang="en-US" sz="3000" b="1" i="0" u="none" err="1">
              <a:solidFill>
                <a:schemeClr val="bg1"/>
              </a:solidFill>
              <a:latin typeface="Montserrat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306960"/>
            <a:ext cx="133498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4107060"/>
            <a:ext cx="133498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025" y="3154560"/>
            <a:ext cx="133498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025" y="4259460"/>
            <a:ext cx="133498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946525"/>
              </p:ext>
            </p:extLst>
          </p:nvPr>
        </p:nvGraphicFramePr>
        <p:xfrm>
          <a:off x="601578" y="1674394"/>
          <a:ext cx="11019059" cy="4116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7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6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9146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50" b="1" i="0" u="none">
                          <a:solidFill>
                            <a:srgbClr val="FFFFFF"/>
                          </a:solidFill>
                          <a:latin typeface="Noto Sans JP"/>
                        </a:rPr>
                        <a:t>ターゲット層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439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50" b="1" i="0" u="none">
                          <a:solidFill>
                            <a:srgbClr val="FFFFFF"/>
                          </a:solidFill>
                          <a:latin typeface="Noto Sans JP"/>
                        </a:rPr>
                        <a:t>ユースケース・行動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439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50" b="1" i="0" u="none">
                          <a:solidFill>
                            <a:srgbClr val="FFFFFF"/>
                          </a:solidFill>
                          <a:latin typeface="Noto Sans JP"/>
                        </a:rPr>
                        <a:t>提供する主要機能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439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9146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500" b="1" i="0" u="none">
                          <a:solidFill>
                            <a:schemeClr val="bg1"/>
                          </a:solidFill>
                          <a:latin typeface="Noto Sans JP"/>
                        </a:rPr>
                        <a:t>大学生 </a:t>
                      </a:r>
                      <a:r>
                        <a:rPr lang="en-US" altLang="ja-JP" sz="1500" b="1" i="0" u="none">
                          <a:solidFill>
                            <a:schemeClr val="bg1"/>
                          </a:solidFill>
                          <a:latin typeface="Noto Sans JP"/>
                        </a:rPr>
                        <a:t>(</a:t>
                      </a:r>
                      <a:r>
                        <a:rPr lang="en-US" sz="1500" b="1" i="0" u="none">
                          <a:solidFill>
                            <a:schemeClr val="bg1"/>
                          </a:solidFill>
                          <a:latin typeface="Noto Sans JP"/>
                        </a:rPr>
                        <a:t>Student)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err="1">
                          <a:solidFill>
                            <a:schemeClr val="bg1"/>
                          </a:solidFill>
                          <a:latin typeface="Noto Sans JP"/>
                        </a:rPr>
                        <a:t>空きコマに自習やグループワークを行うため、すぐに使える教室を探して利用する</a:t>
                      </a:r>
                      <a:r>
                        <a:rPr sz="1500" b="0" i="0" u="none">
                          <a:solidFill>
                            <a:schemeClr val="bg1"/>
                          </a:solidFill>
                          <a:latin typeface="Noto Sans JP"/>
                        </a:rPr>
                        <a:t>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err="1">
                          <a:solidFill>
                            <a:schemeClr val="bg1"/>
                          </a:solidFill>
                          <a:latin typeface="Noto Sans JP"/>
                        </a:rPr>
                        <a:t>条件検索、即時予約、セルフチェックイン・アウト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9146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500" b="1" i="0" u="none">
                          <a:solidFill>
                            <a:srgbClr val="334155"/>
                          </a:solidFill>
                          <a:latin typeface="Noto Sans JP"/>
                        </a:rPr>
                        <a:t>外部利用者 </a:t>
                      </a:r>
                      <a:r>
                        <a:rPr lang="en-US" altLang="ja-JP" sz="1500" b="1" i="0" u="none">
                          <a:solidFill>
                            <a:srgbClr val="334155"/>
                          </a:solidFill>
                          <a:latin typeface="Noto Sans JP"/>
                        </a:rPr>
                        <a:t>(</a:t>
                      </a:r>
                      <a:r>
                        <a:rPr lang="en-US" sz="1500" b="1" i="0" u="none">
                          <a:solidFill>
                            <a:srgbClr val="334155"/>
                          </a:solidFill>
                          <a:latin typeface="Noto Sans JP"/>
                        </a:rPr>
                        <a:t>Guest)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err="1">
                          <a:solidFill>
                            <a:srgbClr val="334155"/>
                          </a:solidFill>
                          <a:latin typeface="Noto Sans JP"/>
                        </a:rPr>
                        <a:t>地域イベントやセミナー開催のため、休日の教室を事前申請し、利用料を支払う</a:t>
                      </a:r>
                      <a:r>
                        <a:rPr sz="1500" b="0" i="0" u="none">
                          <a:solidFill>
                            <a:srgbClr val="334155"/>
                          </a:solidFill>
                          <a:latin typeface="Noto Sans JP"/>
                        </a:rPr>
                        <a:t>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err="1">
                          <a:solidFill>
                            <a:srgbClr val="334155"/>
                          </a:solidFill>
                          <a:latin typeface="Noto Sans JP"/>
                        </a:rPr>
                        <a:t>外部ポータル、利用申請フロ</a:t>
                      </a:r>
                      <a:r>
                        <a:rPr sz="1500" b="0" i="0" u="none">
                          <a:solidFill>
                            <a:srgbClr val="334155"/>
                          </a:solidFill>
                          <a:latin typeface="Noto Sans JP"/>
                        </a:rPr>
                        <a:t>ー、</a:t>
                      </a:r>
                      <a:r>
                        <a:rPr sz="1500" b="0" i="0" u="none" err="1">
                          <a:solidFill>
                            <a:srgbClr val="334155"/>
                          </a:solidFill>
                          <a:latin typeface="Noto Sans JP"/>
                        </a:rPr>
                        <a:t>決済ダミータスク自動発行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914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500" b="1" i="0" u="none" dirty="0">
                          <a:solidFill>
                            <a:schemeClr val="bg1"/>
                          </a:solidFill>
                          <a:latin typeface="Noto Sans JP"/>
                        </a:rPr>
                        <a:t>大学管理者 </a:t>
                      </a:r>
                      <a:r>
                        <a:rPr lang="en-US" altLang="ja-JP" sz="1500" b="1" i="0" u="none" dirty="0">
                          <a:solidFill>
                            <a:schemeClr val="bg1"/>
                          </a:solidFill>
                          <a:latin typeface="Noto Sans JP"/>
                        </a:rPr>
                        <a:t>(</a:t>
                      </a:r>
                      <a:r>
                        <a:rPr lang="en-US" sz="1500" b="1" i="0" u="none" dirty="0">
                          <a:solidFill>
                            <a:schemeClr val="bg1"/>
                          </a:solidFill>
                          <a:latin typeface="Noto Sans JP"/>
                        </a:rPr>
                        <a:t>Controller)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err="1">
                          <a:solidFill>
                            <a:schemeClr val="bg1"/>
                          </a:solidFill>
                          <a:latin typeface="Noto Sans JP"/>
                        </a:rPr>
                        <a:t>キャンパス全体の稼働状況を把握し、設備投資や開放ルールの見直しを行う</a:t>
                      </a:r>
                      <a:r>
                        <a:rPr sz="1500" b="0" i="0" u="none">
                          <a:solidFill>
                            <a:schemeClr val="bg1"/>
                          </a:solidFill>
                          <a:latin typeface="Noto Sans JP"/>
                        </a:rPr>
                        <a:t>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500" b="0" i="0" u="none" dirty="0">
                          <a:solidFill>
                            <a:schemeClr val="bg1"/>
                          </a:solidFill>
                          <a:latin typeface="Noto Sans JP"/>
                        </a:rPr>
                        <a:t>リアルタイムダッシュボード、利用実績レポート自動生成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262979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338512" y="2629792"/>
            <a:ext cx="4411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50373" y="2629792"/>
            <a:ext cx="38606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72516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38512" y="3725167"/>
            <a:ext cx="4411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50373" y="3725167"/>
            <a:ext cx="38606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482054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8512" y="4830568"/>
            <a:ext cx="44118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50373" y="4818077"/>
            <a:ext cx="38606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64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ja-JP" altLang="en-US" sz="3000" b="1" i="0" u="none" err="1">
                <a:solidFill>
                  <a:schemeClr val="bg1"/>
                </a:solidFill>
                <a:latin typeface="Montserrat"/>
              </a:rPr>
              <a:t>アプリケーションのデザイン整理</a:t>
            </a:r>
            <a:endParaRPr lang="ja-JP" altLang="en-US" sz="3000" b="1" i="0" u="none">
              <a:solidFill>
                <a:schemeClr val="bg1"/>
              </a:solidFill>
              <a:latin typeface="Montserrat"/>
              <a:ea typeface="ＭＳ Ｐゴシック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34D37D-7192-75B1-532F-6652245A95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7919F63D-8B23-75F2-22F1-E5DEBE1D8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40246"/>
            <a:ext cx="3429000" cy="42538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814" y="1740247"/>
            <a:ext cx="3429000" cy="425380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740247"/>
            <a:ext cx="3429000" cy="42538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29150" y="4321522"/>
            <a:ext cx="3080385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043927"/>
                </a:solidFill>
                <a:latin typeface="Montserrat"/>
              </a:rPr>
              <a:t>外部利用者 (Guest)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150" y="4321522"/>
            <a:ext cx="3080385" cy="251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ja-JP" sz="1650" b="1">
                <a:solidFill>
                  <a:srgbClr val="043927"/>
                </a:solidFill>
                <a:latin typeface="Montserrat"/>
                <a:ea typeface="ＭＳ Ｐゴシック"/>
              </a:rPr>
              <a:t>大学</a:t>
            </a:r>
            <a:r>
              <a:rPr lang="ja-JP" altLang="en-US" sz="1650" b="1">
                <a:solidFill>
                  <a:srgbClr val="043927"/>
                </a:solidFill>
                <a:latin typeface="Montserrat"/>
                <a:ea typeface="ＭＳ Ｐゴシック"/>
              </a:rPr>
              <a:t>職員</a:t>
            </a:r>
            <a:r>
              <a:rPr sz="1650" b="1" i="0" u="none">
                <a:solidFill>
                  <a:srgbClr val="043927"/>
                </a:solidFill>
                <a:latin typeface="Montserrat"/>
              </a:rPr>
              <a:t> (Controller)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9150" y="4689127"/>
            <a:ext cx="29337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ja-JP" sz="1600">
                <a:latin typeface="Calibri"/>
                <a:ea typeface="Calibri"/>
                <a:cs typeface="Calibri"/>
              </a:rPr>
              <a:t>Ex</a:t>
            </a:r>
            <a:r>
              <a:rPr lang="ja-JP" altLang="en-US" sz="1600">
                <a:latin typeface="Calibri"/>
                <a:ea typeface="Meiryo"/>
                <a:cs typeface="Calibri"/>
              </a:rPr>
              <a:t>）大学職員は使用された教室に関するデータを確認したい</a:t>
            </a:r>
            <a:endParaRPr lang="en-US" altLang="ja-JP"/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464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 u="none" err="1">
                <a:solidFill>
                  <a:schemeClr val="bg1"/>
                </a:solidFill>
                <a:latin typeface="Montserrat"/>
              </a:rPr>
              <a:t>ペルソナごとの利用シーン</a:t>
            </a:r>
            <a:endParaRPr lang="en-US" sz="3000" b="1" i="0" u="none" err="1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9150" y="4321521"/>
            <a:ext cx="3080385" cy="271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ja-JP" b="1" err="1">
                <a:latin typeface="Meiryo"/>
                <a:ea typeface="Meiryo"/>
              </a:rPr>
              <a:t>学生</a:t>
            </a:r>
            <a:r>
              <a:rPr lang="ja-JP" b="1">
                <a:latin typeface="Meiryo"/>
                <a:ea typeface="Meiryo"/>
              </a:rPr>
              <a:t> </a:t>
            </a:r>
            <a:r>
              <a:rPr lang="en-US" b="1">
                <a:latin typeface="Meiryo"/>
                <a:ea typeface="Meiryo"/>
              </a:rPr>
              <a:t>(Student</a:t>
            </a:r>
            <a:r>
              <a:rPr sz="1650" b="1" i="0" u="none" dirty="0">
                <a:latin typeface="Meiryo"/>
                <a:ea typeface="Meiryo"/>
              </a:rPr>
              <a:t>)</a:t>
            </a:r>
            <a:endParaRPr lang="en-US" sz="1650" b="1" i="0" u="none" dirty="0">
              <a:latin typeface="Meiryo"/>
              <a:ea typeface="Meiry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AAE48B-6D82-13BD-EBD1-94BA1AE9643D}"/>
              </a:ext>
            </a:extLst>
          </p:cNvPr>
          <p:cNvSpPr txBox="1"/>
          <p:nvPr/>
        </p:nvSpPr>
        <p:spPr>
          <a:xfrm>
            <a:off x="736284" y="4681015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Ex</a:t>
            </a:r>
            <a:r>
              <a:rPr lang="en-US" altLang="ja-JP" dirty="0">
                <a:ea typeface="Calibri"/>
                <a:cs typeface="Calibri"/>
              </a:rPr>
              <a:t>) </a:t>
            </a:r>
            <a:r>
              <a:rPr lang="ja-JP" altLang="en-US" dirty="0">
                <a:ea typeface="Calibri"/>
                <a:cs typeface="Calibri"/>
              </a:rPr>
              <a:t>光田さんは友達二人と勉強をするため、教室を借りたい</a:t>
            </a:r>
            <a:endParaRPr lang="ja-JP" altLang="en-US" dirty="0"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4C840C-D803-C2D7-B773-6C3B1D075BBA}"/>
              </a:ext>
            </a:extLst>
          </p:cNvPr>
          <p:cNvSpPr txBox="1"/>
          <p:nvPr/>
        </p:nvSpPr>
        <p:spPr>
          <a:xfrm>
            <a:off x="4538080" y="4686063"/>
            <a:ext cx="293914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Ex)</a:t>
            </a:r>
            <a:r>
              <a:rPr lang="en-US" altLang="ja-JP">
                <a:ea typeface="Calibri"/>
                <a:cs typeface="Calibri"/>
              </a:rPr>
              <a:t> </a:t>
            </a:r>
            <a:r>
              <a:rPr lang="ja-JP" altLang="en-US">
                <a:ea typeface="Calibri"/>
                <a:cs typeface="Calibri"/>
              </a:rPr>
              <a:t>山田さんは地域の20人規模のイベントを開催するため、教室を借りたい</a:t>
            </a:r>
            <a:endParaRPr 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0405B34-EA0E-B4BC-BA0A-1D2C2F302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530" y="1899801"/>
            <a:ext cx="2370033" cy="2333454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5EF0C1B0-6D92-5D4F-F48E-56089118B4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743" y="1899801"/>
            <a:ext cx="2939142" cy="2204357"/>
          </a:xfrm>
          <a:prstGeom prst="rect">
            <a:avLst/>
          </a:prstGeom>
        </p:spPr>
      </p:pic>
      <p:pic>
        <p:nvPicPr>
          <p:cNvPr id="22" name="Picture 1">
            <a:extLst>
              <a:ext uri="{FF2B5EF4-FFF2-40B4-BE49-F238E27FC236}">
                <a16:creationId xmlns:a16="http://schemas.microsoft.com/office/drawing/2014/main" id="{A1244A91-0F30-0184-6287-92C50A952E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1848939"/>
            <a:ext cx="2438400" cy="23843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46994"/>
            <a:ext cx="5286375" cy="34403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146994"/>
            <a:ext cx="5286375" cy="34403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96076" y="3394769"/>
            <a:ext cx="2837073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sz="1800" b="1" i="0" u="none" dirty="0" err="1">
                <a:solidFill>
                  <a:srgbClr val="043927"/>
                </a:solidFill>
                <a:latin typeface="Montserrat"/>
              </a:rPr>
              <a:t>外部マネタイズ</a:t>
            </a:r>
            <a:r>
              <a:rPr sz="1800" b="1" i="0" u="none" dirty="0">
                <a:solidFill>
                  <a:srgbClr val="043927"/>
                </a:solidFill>
                <a:latin typeface="Montserrat"/>
              </a:rPr>
              <a:t> (</a:t>
            </a:r>
            <a:r>
              <a:rPr sz="1800" b="1" i="0" u="none" dirty="0" err="1">
                <a:solidFill>
                  <a:srgbClr val="043927"/>
                </a:solidFill>
                <a:latin typeface="Montserrat"/>
              </a:rPr>
              <a:t>API連携</a:t>
            </a:r>
            <a:r>
              <a:rPr sz="1800" b="1" i="0" u="none" dirty="0">
                <a:solidFill>
                  <a:srgbClr val="043927"/>
                </a:solidFill>
                <a:latin typeface="Montserrat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834705"/>
            <a:ext cx="46958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Noto Sans JP"/>
              </a:rPr>
              <a:t>ServiceNowは外部API連携が非常に強力です。PayPay等の決済APIを組み込むことで、休日の空き教室を貸し出し、少子化に直面する大学に新たな収益源を生み出</a:t>
            </a:r>
            <a:r>
              <a:rPr lang="ja-JP" altLang="en-US" sz="1500" b="0" i="0" u="none" dirty="0">
                <a:solidFill>
                  <a:srgbClr val="334155"/>
                </a:solidFill>
                <a:latin typeface="Noto Sans JP"/>
              </a:rPr>
              <a:t>す</a:t>
            </a:r>
            <a:r>
              <a:rPr sz="1500" b="0" i="0" u="none" dirty="0">
                <a:solidFill>
                  <a:srgbClr val="334155"/>
                </a:solidFill>
                <a:latin typeface="Noto Sans JP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43843" y="3394769"/>
            <a:ext cx="3066789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40"/>
              </a:lnSpc>
            </a:pPr>
            <a:r>
              <a:rPr sz="1800" b="1" i="0" u="none">
                <a:solidFill>
                  <a:srgbClr val="043927"/>
                </a:solidFill>
                <a:latin typeface="Montserrat"/>
              </a:rPr>
              <a:t>スマートキャンパス化 (IoT)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834705"/>
            <a:ext cx="4695825" cy="889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Noto Sans JP"/>
              </a:rPr>
              <a:t>乱立する学内システムを共通基盤に集約し、スマートロックや空調と連携。予約時間だけ鍵が開き電気がつく仕組みを作り、SDGsや業務効率化に大きく貢献。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7221" y="2585144"/>
            <a:ext cx="414932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9846" y="2585144"/>
            <a:ext cx="414932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464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altLang="ja-JP" sz="3000" b="1" i="0" u="none">
                <a:solidFill>
                  <a:schemeClr val="bg1"/>
                </a:solidFill>
                <a:latin typeface="Montserrat"/>
              </a:rPr>
              <a:t>6. </a:t>
            </a:r>
            <a:r>
              <a:rPr lang="ja-JP" altLang="en-US" sz="3000" b="1" i="0" u="none" err="1">
                <a:solidFill>
                  <a:schemeClr val="bg1"/>
                </a:solidFill>
                <a:latin typeface="Montserrat"/>
              </a:rPr>
              <a:t>拡張性：未来のキャンパス像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571500"/>
            <a:ext cx="5200650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ja-JP" altLang="en-US" sz="3600" b="1" i="0" u="none" err="1">
                <a:solidFill>
                  <a:schemeClr val="bg1"/>
                </a:solidFill>
                <a:latin typeface="Montserrat"/>
              </a:rPr>
              <a:t>次世代の</a:t>
            </a:r>
            <a:r>
              <a:rPr lang="ja-JP" altLang="en-US">
                <a:solidFill>
                  <a:schemeClr val="bg1"/>
                </a:solidFill>
              </a:rPr>
              <a:t>
</a:t>
            </a:r>
            <a:r>
              <a:rPr lang="ja-JP" altLang="en-US" sz="3600" b="1" i="0" u="none">
                <a:solidFill>
                  <a:schemeClr val="bg1"/>
                </a:solidFill>
                <a:latin typeface="Montserrat"/>
              </a:rPr>
              <a:t> </a:t>
            </a:r>
            <a:r>
              <a:rPr lang="ja-JP" altLang="en-US" sz="3600" b="1" i="0" u="none" err="1">
                <a:solidFill>
                  <a:schemeClr val="bg1"/>
                </a:solidFill>
                <a:latin typeface="Montserrat"/>
              </a:rPr>
              <a:t>キャンパス</a:t>
            </a:r>
            <a:r>
              <a:rPr lang="ja-JP" altLang="en-US">
                <a:solidFill>
                  <a:schemeClr val="bg1"/>
                </a:solidFill>
              </a:rPr>
              <a:t>
</a:t>
            </a:r>
            <a:r>
              <a:rPr lang="ja-JP" altLang="en-US" sz="3600" b="1" i="0" u="none">
                <a:solidFill>
                  <a:schemeClr val="bg1"/>
                </a:solidFill>
                <a:latin typeface="Montserrat"/>
              </a:rPr>
              <a:t> </a:t>
            </a:r>
            <a:r>
              <a:rPr lang="ja-JP" altLang="en-US" sz="3600" b="1" i="0" u="none" err="1">
                <a:solidFill>
                  <a:schemeClr val="bg1"/>
                </a:solidFill>
                <a:latin typeface="Montserrat"/>
              </a:rPr>
              <a:t>プラットフォーム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693491"/>
            <a:ext cx="4953000" cy="301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ja-JP" altLang="en-US" sz="1650" b="0" i="0" u="none" err="1">
                <a:solidFill>
                  <a:schemeClr val="bg1"/>
                </a:solidFill>
                <a:latin typeface="Noto Sans JP"/>
              </a:rPr>
              <a:t>このアプリは単なる教室の予約ツールではありません</a:t>
            </a:r>
            <a:r>
              <a:rPr lang="ja-JP" altLang="en-US" sz="1650" b="0" i="0" u="none">
                <a:solidFill>
                  <a:schemeClr val="bg1"/>
                </a:solidFill>
                <a:latin typeface="Noto Sans JP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601938"/>
            <a:ext cx="4953000" cy="964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ja-JP" altLang="en-US" sz="1650" b="0" i="0" u="none" dirty="0">
                <a:solidFill>
                  <a:schemeClr val="bg1"/>
                </a:solidFill>
                <a:latin typeface="Noto Sans JP"/>
              </a:rPr>
              <a:t>学生の利便性を高め、地域社会と積極的に交流し、大学が抱える経営課題をデータドリブンで解決へと導く、これからの大学運営に不可欠な基盤となります。</a:t>
            </a:r>
            <a:r>
              <a:rPr sz="1650" b="0" i="0" u="none" dirty="0">
                <a:solidFill>
                  <a:srgbClr val="334155"/>
                </a:solidFill>
                <a:latin typeface="Noto Sans JP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319510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2104280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2060785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2845556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630327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0947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09475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28360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28360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36208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36208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46036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46036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68933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1462385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 dirty="0">
                <a:solidFill>
                  <a:srgbClr val="334155"/>
                </a:solidFill>
                <a:latin typeface="Noto Sans JP"/>
              </a:rPr>
              <a:t>https://www.nacacnet.org/wp-content/uploads/JCA-Summer26-Cover-Lores.png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708100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334155"/>
                </a:solidFill>
                <a:latin typeface="Noto Sans JP"/>
              </a:rPr>
              <a:t>Source: </a:t>
            </a:r>
            <a:r>
              <a:rPr sz="1200" b="0" i="0" u="none" dirty="0">
                <a:solidFill>
                  <a:srgbClr val="4F46E5"/>
                </a:solidFill>
                <a:latin typeface="Noto Sans JP"/>
              </a:rPr>
              <a:t>www.nacacnet.org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10209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2203660"/>
            <a:ext cx="9953625" cy="183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 dirty="0">
                <a:solidFill>
                  <a:srgbClr val="334155"/>
                </a:solidFill>
                <a:latin typeface="Noto Sans JP"/>
              </a:rPr>
              <a:t>https://www.lemon8-app.com/seo/image?item_id=7553347040785302047&amp;index=0&amp;sign=3534eb94dfef7eeae59f01105db96c56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2449376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334155"/>
                </a:solidFill>
                <a:latin typeface="Noto Sans JP"/>
              </a:rPr>
              <a:t>Source: </a:t>
            </a:r>
            <a:r>
              <a:rPr sz="1200" b="0" i="0" u="none" dirty="0">
                <a:solidFill>
                  <a:srgbClr val="4F46E5"/>
                </a:solidFill>
                <a:latin typeface="Noto Sans JP"/>
              </a:rPr>
              <a:t>www.lemon8-app.com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94979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2988431"/>
            <a:ext cx="9953625" cy="183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 dirty="0">
                <a:solidFill>
                  <a:srgbClr val="334155"/>
                </a:solidFill>
                <a:latin typeface="Noto Sans JP"/>
              </a:rPr>
              <a:t>https://www.watermarkinsights.com/wp-content/uploads/2024/09/01-Understanding-the-support-needs-of-community-college-students-1024x512.jpg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3234146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334155"/>
                </a:solidFill>
                <a:latin typeface="Noto Sans JP"/>
              </a:rPr>
              <a:t>Source: </a:t>
            </a:r>
            <a:r>
              <a:rPr sz="1200" b="0" i="0" u="none" dirty="0">
                <a:solidFill>
                  <a:srgbClr val="4F46E5"/>
                </a:solidFill>
                <a:latin typeface="Noto Sans JP"/>
              </a:rPr>
              <a:t>www.watermarkinsights.com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78870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3773202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4155"/>
                </a:solidFill>
                <a:latin typeface="Noto Sans JP"/>
              </a:rPr>
              <a:t>https://png.pngtree.com/thumb_back/fw800/background/20260414/pngtree-professional-business-data-analytics-dashboard-on-laptop-screen-in-modern-office-image_21711838.webp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4217007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JP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JP"/>
              </a:rPr>
              <a:t>pngtree.com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62611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66875" y="4756063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334155"/>
                </a:solidFill>
                <a:latin typeface="Noto Sans JP"/>
              </a:rPr>
              <a:t>https://www.mapleleafschools.com/assets/best-boarding-schools-hero-BZT7FOI0.jpg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001778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Noto Sans JP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JP"/>
              </a:rPr>
              <a:t>www.mapleleafschools.com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43210"/>
            <a:ext cx="11601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 u="none" dirty="0">
                <a:solidFill>
                  <a:srgbClr val="043927"/>
                </a:solidFill>
                <a:latin typeface="Montserrat"/>
              </a:rPr>
              <a:t>Image Source</a:t>
            </a:r>
            <a:r>
              <a:rPr lang="en-US" sz="3000" b="1" i="0" u="none" dirty="0">
                <a:solidFill>
                  <a:srgbClr val="043927"/>
                </a:solidFill>
                <a:latin typeface="Montserrat"/>
              </a:rPr>
              <a:t>s</a:t>
            </a:r>
            <a:endParaRPr sz="3000" b="1" i="0" u="none" dirty="0">
              <a:solidFill>
                <a:srgbClr val="043927"/>
              </a:solidFill>
              <a:latin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624</Words>
  <Application>Microsoft Office PowerPoint</Application>
  <PresentationFormat>ワイド画面</PresentationFormat>
  <Paragraphs>62</Paragraphs>
  <Slides>10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7" baseType="lpstr">
      <vt:lpstr>Noto Sans JP</vt:lpstr>
      <vt:lpstr>Meiryo</vt:lpstr>
      <vt:lpstr>游ゴシック</vt:lpstr>
      <vt:lpstr>Arial</vt:lpstr>
      <vt:lpstr>Calibri</vt:lpstr>
      <vt:lpstr>Montserrat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福田　圭樹</cp:lastModifiedBy>
  <cp:revision>3</cp:revision>
  <dcterms:created xsi:type="dcterms:W3CDTF">2013-01-27T09:14:16Z</dcterms:created>
  <dcterms:modified xsi:type="dcterms:W3CDTF">2026-10-01T07:45:21Z</dcterms:modified>
  <cp:category/>
</cp:coreProperties>
</file>